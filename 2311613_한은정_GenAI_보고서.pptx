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7" r:id="rId3"/>
    <p:sldId id="257" r:id="rId4"/>
    <p:sldId id="278" r:id="rId5"/>
    <p:sldId id="258" r:id="rId6"/>
    <p:sldId id="279" r:id="rId7"/>
    <p:sldId id="259" r:id="rId8"/>
    <p:sldId id="261" r:id="rId9"/>
    <p:sldId id="260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5" r:id="rId18"/>
    <p:sldId id="271" r:id="rId19"/>
    <p:sldId id="273" r:id="rId20"/>
    <p:sldId id="272" r:id="rId21"/>
    <p:sldId id="274" r:id="rId22"/>
    <p:sldId id="280" r:id="rId23"/>
    <p:sldId id="263" r:id="rId24"/>
    <p:sldId id="281" r:id="rId25"/>
    <p:sldId id="264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2"/>
    <p:restoredTop sz="94673"/>
  </p:normalViewPr>
  <p:slideViewPr>
    <p:cSldViewPr snapToGrid="0">
      <p:cViewPr>
        <p:scale>
          <a:sx n="99" d="100"/>
          <a:sy n="99" d="100"/>
        </p:scale>
        <p:origin x="131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6A6C2-4186-4146-B78C-23139BDF4BE1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8EA86-7860-8A45-9DDB-DB79906B8BC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52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046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EC43E-2C1D-64E3-2C5B-2DCE0198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DF195A-C242-25C4-6F5D-30BBE0432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F63722-A8E8-FE9C-57D8-927811F1B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24D25-D801-36D3-0D13-AC1B6551B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8473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B4FAB-3D57-60F5-36B3-63D053A4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ED39C8-945D-DCE4-293F-1EDBE3734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DBA551-0A52-0074-0D8E-8EE1D93C2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A3178-96E4-3951-4578-A168EF115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234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EA96-E6AE-481E-4EDC-0B70AC388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86485C-64D5-F7CE-3EDF-BFB5F4BA3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A36AF3-D69D-B591-71E1-8E2FA4233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5497D-43D4-C16C-2354-CA469B1C6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97319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98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6963-73B4-347A-FD5A-7D8FB144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22905D-EF87-9D66-236B-707502389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959FB-8CDB-A7A9-E16C-653A7DEDC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D103D-3C72-03B0-9F71-2298CE1F3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6557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0A8F3-F192-AE93-DEA6-1DABD180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18423C-8AAB-B81D-4599-6DC5787B2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A529C5-6E94-BAC7-3051-C67F00277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29F5F-78F1-73F6-D0D2-460277D00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8EA86-7860-8A45-9DDB-DB79906B8BCC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4886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1E924-CAE2-A9CD-58C3-DEE752BEF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Freesentation 8 ExtraBold" pitchFamily="2" charset="-127"/>
                <a:ea typeface="Freesentation 8 ExtraBold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CF1DE2-1EF6-16AD-B65D-7B0867C8F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Freesentation 4 Regular" pitchFamily="2" charset="-127"/>
                <a:ea typeface="Freesentation 4 Regular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3117D-D22F-3DDA-DF0D-881C67E2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fld id="{8B549085-594E-3D4F-8E72-2541F6EB1B36}" type="datetimeFigureOut">
              <a:rPr kumimoji="1" lang="ko-KR" altLang="en-US" smtClean="0"/>
              <a:pPr/>
              <a:t>2026. 6. 8.</a:t>
            </a:fld>
            <a:endParaRPr kumimoji="1"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B50860-E86B-B5BE-566A-1BFA3C55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endParaRPr kumimoji="1"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C4F449-FE8E-F516-58DF-C2F1C5C5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fld id="{B671327C-ED14-CC44-B9EE-13D5B1964494}" type="slidenum">
              <a:rPr kumimoji="1" lang="ko-KR" altLang="en-US" smtClean="0"/>
              <a:pPr/>
              <a:t>‹#›</a:t>
            </a:fld>
            <a:endParaRPr kumimoji="1"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046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85BCF-F861-1A7A-7732-3002BA9F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Freesentation 7 Bold" pitchFamily="2" charset="-127"/>
                <a:ea typeface="Freesentation 7 Bold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98FFFA-526B-61DC-4E48-0999D2F99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46AD16-339A-960E-ED46-1605251D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52B5A-2DC3-15B2-AE55-8B998C31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37E375-9AF7-CBB9-1903-3F535EB9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602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F0B17-9D68-3F2C-0648-590F2F74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9F8132-D28A-C034-6056-0E2667E07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D3799-2E2B-16DF-D0E9-A9AA3D71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892A5A-7726-9E91-75BA-8FB2B5626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0D643-5013-0C7D-8A63-66398B7D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5799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98F34-4D17-DCAA-5F80-FCD2B381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01983F-4D97-7D33-894F-92055E0B6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422FAC-6DEC-642B-A97B-A5C93061F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DBFE7-E359-8B53-AD7B-C129ECAC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8EED2C-9736-7767-AB48-E0874E08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166376-5487-DA8E-8FF8-44AACDD5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286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77DE3-16DF-ED55-7699-308FA631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64868E-1983-5C51-84A8-42BAF3F92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E15E62-E1D1-EC02-D833-5E16643A6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55F17D-3FC3-39E8-CAEF-236F1C5FC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AA9D61-6526-C056-2DA8-DA0354671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6FC6C6-3224-8660-B61E-2E4447D4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795F0F-1EE5-CE63-1D10-887AB92F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454768-5994-2B82-50B2-4C97179D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885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0E33D-016B-05A0-D7EA-0339BA29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7221BC-8609-E3E5-E24D-EB2A0ED66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C8A0BB-5530-E7A1-57D3-7E7A8441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137E55-64A2-65DE-FE41-8A66A5876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5429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1FE764-5935-A8ED-7B8A-09E7B3DC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90B74C-3C68-71D0-52AE-3099D1E9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D9500C-3D79-9B7E-242D-5FAB00E3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241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BFC1B-1565-1053-A883-2171DCCC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DEB397-6087-99BB-7003-19C2B9226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921133-5996-BE3F-B451-2A7DD6805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8AD13-3470-572C-B65F-A253E136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14B407-E955-AE20-E8D4-E5C9BB9C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BF2E7-57A5-0743-064A-022FBC3C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590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AA1C8-9755-D7C0-E291-7BA69449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1DBB84-2996-1BFF-0F7A-680966389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775E21-CDF5-5245-D799-37A05244E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36F3B2-557A-CF0D-B818-2A068653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028944-3E36-AA60-9963-AEC06D28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C354C3-17FE-2E26-8D2E-F1D25ED3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066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8BB2E-9553-257D-B563-96F425DF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F185C8-9C40-ECAF-DF83-886CBFA02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DF0AB1-FBDF-D0D0-4203-0287DDCE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FCE895-BCC5-9087-3F2B-701E31DBF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DE1D29-A4FC-862F-EEFA-901135B1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185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6C6F33-E885-EEF6-2DE5-3A567E30A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224498-2C24-BC63-48D1-A56DD2A8D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D14D32-6FFA-9D9E-D875-741A2F5E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9085-594E-3D4F-8E72-2541F6EB1B36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FED75E-8631-E1E6-1AF2-7A7E51D5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2AC56-29BB-1ABC-89CC-F8D6B456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1327C-ED14-CC44-B9EE-13D5B19644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4372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FE99F3-F6AE-EE40-EE06-AB8B7258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BDF57-FA6F-8A88-E956-8F3EB5D57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D8DFAF-07E6-8DBE-22DA-4A8423418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fld id="{8B549085-594E-3D4F-8E72-2541F6EB1B36}" type="datetimeFigureOut">
              <a:rPr kumimoji="1" lang="ko-KR" altLang="en-US" smtClean="0"/>
              <a:pPr/>
              <a:t>2026. 6. 8.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8BFC5-2116-FD99-740F-77D33B349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462D2A-E766-525D-46AC-2F643868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Freesentation 4 Regular" pitchFamily="2" charset="-127"/>
                <a:ea typeface="Freesentation 4 Regular" pitchFamily="2" charset="-127"/>
              </a:defRPr>
            </a:lvl1pPr>
          </a:lstStyle>
          <a:p>
            <a:fld id="{B671327C-ED14-CC44-B9EE-13D5B1964494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566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Freesentation 7 Bold" pitchFamily="2" charset="-127"/>
          <a:ea typeface="Freesentation 7 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eesentation 4 Regular" pitchFamily="2" charset="-127"/>
          <a:ea typeface="Freesentation 4 Regular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eesentation 4 Regular" pitchFamily="2" charset="-127"/>
          <a:ea typeface="Freesentation 4 Regular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eesentation 4 Regular" pitchFamily="2" charset="-127"/>
          <a:ea typeface="Freesentation 4 Regular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Freesentation 4 Regular" pitchFamily="2" charset="-127"/>
          <a:ea typeface="Freesentation 4 Regular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Freesentation 4 Regular" pitchFamily="2" charset="-127"/>
          <a:ea typeface="Freesentation 4 Regular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biztoday.kr/news/articleView.html?idxno=25791" TargetMode="External"/><Relationship Id="rId2" Type="http://schemas.openxmlformats.org/officeDocument/2006/relationships/hyperlink" Target="https://blog.ccfmedu.co.kr/marketing-market-research-method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liocosmetic.com/report_online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iocosmetic.com/report_onlin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79CF3-C1F4-8A70-4703-0CD71CC35E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" altLang="ko-KR" dirty="0">
                <a:effectLst/>
              </a:rPr>
              <a:t>Marketing Agent:</a:t>
            </a:r>
            <a:br>
              <a:rPr lang="en" altLang="ko-KR" dirty="0"/>
            </a:br>
            <a:r>
              <a:rPr lang="en" altLang="ko-KR" dirty="0">
                <a:effectLst/>
              </a:rPr>
              <a:t>Virtual Customer Feedback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1FE905-B989-CD85-DBE2-FD1BD288B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kumimoji="1" lang="en-US" altLang="ko-KR" dirty="0"/>
              <a:t>2311613</a:t>
            </a:r>
            <a:r>
              <a:rPr kumimoji="1" lang="ko-KR" altLang="en-US" dirty="0"/>
              <a:t> 인공지능공학부 한은정</a:t>
            </a:r>
          </a:p>
        </p:txBody>
      </p:sp>
    </p:spTree>
    <p:extLst>
      <p:ext uri="{BB962C8B-B14F-4D97-AF65-F5344CB8AC3E}">
        <p14:creationId xmlns:p14="http://schemas.microsoft.com/office/powerpoint/2010/main" val="388486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D50C-D06F-2854-A600-AA60855B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97619EA-7029-F807-8073-49D4C6DF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Introduction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BA42BC-C7A2-E0E0-370F-BF2A4F493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68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1B605-69B9-96C2-A52C-52C0C8BF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682D1-B564-A4B6-7139-B3420C62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마케팅을 하기 위해서 각자 필요한 기법을 사용해 적절한 전략을 펼쳐야 하지만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이는 알아보고 결정하는 데에 시간이 많이 든다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출처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https://ko-</a:t>
            </a:r>
            <a:r>
              <a:rPr kumimoji="1" lang="en-US" altLang="ko-KR" dirty="0" err="1"/>
              <a:t>blog.smore.im</a:t>
            </a:r>
            <a:r>
              <a:rPr kumimoji="1" lang="en-US" altLang="ko-KR" dirty="0"/>
              <a:t>/marketing-insights/market-research/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시장 조사 자체가 기업에게는 금전적 부담이 된다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출처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" altLang="ko-KR" dirty="0">
                <a:hlinkClick r:id="rId2"/>
              </a:rPr>
              <a:t>https://blog.ccfmedu.co.kr/marketing-market-research-methods</a:t>
            </a:r>
            <a:endParaRPr kumimoji="1" lang="en" altLang="ko-KR" dirty="0"/>
          </a:p>
          <a:p>
            <a:pPr lvl="1"/>
            <a:endParaRPr kumimoji="1" lang="en-US" altLang="ko-KR" dirty="0"/>
          </a:p>
          <a:p>
            <a:r>
              <a:rPr kumimoji="1" lang="ko-KR" altLang="en-US" dirty="0"/>
              <a:t>생성형 </a:t>
            </a:r>
            <a:r>
              <a:rPr kumimoji="1" lang="en-US" altLang="ko-KR" dirty="0"/>
              <a:t>AI</a:t>
            </a:r>
            <a:r>
              <a:rPr kumimoji="1" lang="ko-KR" altLang="en-US" dirty="0"/>
              <a:t>의 성장과 함께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lang="ko-KR" altLang="en-US" dirty="0"/>
              <a:t>합성소비자</a:t>
            </a:r>
            <a:r>
              <a:rPr lang="en-US" altLang="ko-KR" dirty="0"/>
              <a:t>(</a:t>
            </a:r>
            <a:r>
              <a:rPr lang="en" altLang="ko-KR" dirty="0"/>
              <a:t>Synthetic Consumer)</a:t>
            </a:r>
            <a:r>
              <a:rPr lang="ko-KR" altLang="en-US" dirty="0" err="1"/>
              <a:t>를</a:t>
            </a:r>
            <a:r>
              <a:rPr lang="ko-KR" altLang="en-US" dirty="0"/>
              <a:t> 만들어 </a:t>
            </a:r>
            <a:r>
              <a:rPr kumimoji="1" lang="ko-KR" altLang="en-US" dirty="0"/>
              <a:t>설문 및 리서치에 드는 시간과 비용을 절감하는 개념이 등장하고 있다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출처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" altLang="ko-KR" dirty="0">
                <a:hlinkClick r:id="rId3"/>
              </a:rPr>
              <a:t>https://www.sbiztoday.kr/news/articleView.html?idxno=25791</a:t>
            </a:r>
            <a:endParaRPr kumimoji="1" lang="en" altLang="ko-KR" dirty="0"/>
          </a:p>
          <a:p>
            <a:pPr lvl="1"/>
            <a:endParaRPr kumimoji="1" lang="en" altLang="ko-KR" dirty="0"/>
          </a:p>
          <a:p>
            <a:pPr>
              <a:buFont typeface="Symbol" pitchFamily="2" charset="2"/>
              <a:buChar char="Þ"/>
            </a:pPr>
            <a:r>
              <a:rPr kumimoji="1" lang="ko-KR" altLang="en-US" b="1" dirty="0"/>
              <a:t>비용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시간 절감을 위해 가상 고객 페르소나를 생성하여 시장 반응을 예측해보고 마케팅 전략</a:t>
            </a:r>
            <a:r>
              <a:rPr kumimoji="1" lang="en-US" altLang="ko-KR" b="1" dirty="0"/>
              <a:t>,</a:t>
            </a:r>
            <a:r>
              <a:rPr kumimoji="1" lang="ko-KR" altLang="en-US" b="1" dirty="0"/>
              <a:t> 홍보 이미지까지 생성하는 에이전트를 개발하고자 한다</a:t>
            </a:r>
            <a:endParaRPr kumimoji="1"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88400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58C4D-7F89-6845-FD45-9B906DDD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13809F2-83E0-2C62-B6BD-477886C4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Idea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701D80-BD35-A6BF-9F81-1B6338ECE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08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D7438-095C-D9BD-A1AC-5FBBE164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 Idea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A1AB7-6B80-953C-0E5A-B9D399E5C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시장 조사에 드는 비용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시간 절감을 위해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b="1" dirty="0"/>
              <a:t>“</a:t>
            </a:r>
            <a:r>
              <a:rPr kumimoji="1" lang="ko-KR" altLang="en-US" b="1" dirty="0"/>
              <a:t>가상 고객 페르소나</a:t>
            </a:r>
            <a:r>
              <a:rPr kumimoji="1" lang="en-US" altLang="ko-KR" b="1" dirty="0"/>
              <a:t>”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생성하여 시장 반응을 예측해보고</a:t>
            </a:r>
            <a:endParaRPr kumimoji="1" lang="en-US" altLang="ko-KR" dirty="0"/>
          </a:p>
          <a:p>
            <a:r>
              <a:rPr kumimoji="1" lang="ko-KR" altLang="en-US" dirty="0"/>
              <a:t>이를 기반으로 한 마케팅 방향과 실제 홍보 이미지까지 생성한다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개발 목적에 맞게</a:t>
            </a:r>
            <a:r>
              <a:rPr kumimoji="1" lang="en-US" altLang="ko-KR" dirty="0"/>
              <a:t>,</a:t>
            </a:r>
            <a:r>
              <a:rPr kumimoji="1" lang="ko-KR" altLang="en-US" dirty="0"/>
              <a:t> 본 에이전트의 실사용자는 회사의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마케터</a:t>
            </a:r>
            <a:r>
              <a:rPr kumimoji="1" lang="en-US" altLang="ko-KR" dirty="0"/>
              <a:t>’,</a:t>
            </a:r>
            <a:r>
              <a:rPr kumimoji="1" lang="ko-KR" altLang="en-US" dirty="0"/>
              <a:t> 혹은 </a:t>
            </a:r>
            <a:r>
              <a:rPr kumimoji="1" lang="en-US" altLang="ko-KR" dirty="0"/>
              <a:t>‘</a:t>
            </a:r>
            <a:r>
              <a:rPr kumimoji="1" lang="ko-KR" altLang="en-US" dirty="0"/>
              <a:t>브랜드 가치를 살려 홍보를 하고 싶은 기업인</a:t>
            </a:r>
            <a:r>
              <a:rPr kumimoji="1" lang="en-US" altLang="ko-KR" dirty="0"/>
              <a:t>’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설정한다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1737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A8EE-FBD6-FADF-FAF6-83439BF4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42BF586-213B-07C7-A388-04474D827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8DFB74-7083-6BAA-4FDD-C1BDDB957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95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D4742-7D6D-0047-27E6-BBCEF4B8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input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DD88F-13F8-24AB-EC99-94316DC6F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ko-KR" altLang="en-US" dirty="0"/>
              <a:t>사용자</a:t>
            </a:r>
            <a:r>
              <a:rPr kumimoji="1" lang="en-US" altLang="ko-KR" dirty="0"/>
              <a:t>(</a:t>
            </a:r>
            <a:r>
              <a:rPr kumimoji="1" lang="ko-KR" altLang="en-US" dirty="0"/>
              <a:t>마케터</a:t>
            </a:r>
            <a:r>
              <a:rPr kumimoji="1" lang="en-US" altLang="ko-KR" dirty="0"/>
              <a:t>)</a:t>
            </a:r>
            <a:r>
              <a:rPr kumimoji="1" lang="ko-KR" altLang="en-US" dirty="0"/>
              <a:t>로부터 직접 </a:t>
            </a:r>
            <a:r>
              <a:rPr kumimoji="1" lang="en-US" altLang="ko-KR" dirty="0"/>
              <a:t>5</a:t>
            </a:r>
            <a:r>
              <a:rPr kumimoji="1" lang="ko-KR" altLang="en-US" dirty="0"/>
              <a:t>가지 인자를 </a:t>
            </a:r>
            <a:r>
              <a:rPr kumimoji="1" lang="ko-KR" altLang="en-US" dirty="0" err="1"/>
              <a:t>입력받는다</a:t>
            </a:r>
            <a:endParaRPr kumimoji="1" lang="en-US" altLang="ko-KR" dirty="0"/>
          </a:p>
          <a:p>
            <a:pPr lvl="1">
              <a:lnSpc>
                <a:spcPct val="110000"/>
              </a:lnSpc>
            </a:pPr>
            <a:r>
              <a:rPr lang="ko-KR" altLang="en-US" b="1" dirty="0"/>
              <a:t>제품 카테고리</a:t>
            </a:r>
          </a:p>
          <a:p>
            <a:pPr lvl="1">
              <a:lnSpc>
                <a:spcPct val="110000"/>
              </a:lnSpc>
            </a:pPr>
            <a:r>
              <a:rPr lang="ko-KR" altLang="en-US" b="1" dirty="0"/>
              <a:t>경영 가치</a:t>
            </a:r>
            <a:endParaRPr lang="en-US" altLang="ko-KR" b="1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기업의 경영 가치에 걸맞은 홍보 전략을 사용함으로써 고객에게 브랜드 이미지를 </a:t>
            </a:r>
            <a:r>
              <a:rPr lang="ko-KR" altLang="en-US" dirty="0" err="1"/>
              <a:t>각인시키고</a:t>
            </a:r>
            <a:r>
              <a:rPr lang="en-US" altLang="ko-KR" dirty="0"/>
              <a:t>, </a:t>
            </a:r>
            <a:r>
              <a:rPr lang="ko-KR" altLang="en-US" dirty="0"/>
              <a:t>특히나 신생 기업에게는 브랜드 홍보에 </a:t>
            </a:r>
            <a:r>
              <a:rPr lang="ko-KR" altLang="en-US" dirty="0" err="1"/>
              <a:t>신경써야</a:t>
            </a:r>
            <a:r>
              <a:rPr lang="ko-KR" altLang="en-US" dirty="0"/>
              <a:t> 하기 때문에 자세히 입력할수록 좋다</a:t>
            </a:r>
          </a:p>
          <a:p>
            <a:pPr lvl="1">
              <a:lnSpc>
                <a:spcPct val="110000"/>
              </a:lnSpc>
            </a:pPr>
            <a:r>
              <a:rPr lang="ko-KR" altLang="en-US" b="1" dirty="0"/>
              <a:t>타겟층</a:t>
            </a:r>
            <a:r>
              <a:rPr lang="ko-KR" altLang="en-US" dirty="0"/>
              <a:t> 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타겟 고객을 단순히 “</a:t>
            </a:r>
            <a:r>
              <a:rPr lang="en-US" altLang="ko-KR" dirty="0"/>
              <a:t>20</a:t>
            </a:r>
            <a:r>
              <a:rPr lang="ko-KR" altLang="en-US" dirty="0"/>
              <a:t>대 </a:t>
            </a:r>
            <a:r>
              <a:rPr lang="ko-KR" altLang="en-US" dirty="0" err="1"/>
              <a:t>여성”처럼</a:t>
            </a:r>
            <a:r>
              <a:rPr lang="ko-KR" altLang="en-US" dirty="0"/>
              <a:t> 입력하면 일반적인 페르소나가 생성되지만</a:t>
            </a:r>
            <a:r>
              <a:rPr lang="en-US" altLang="ko-KR" dirty="0"/>
              <a:t>, 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US" altLang="ko-KR" dirty="0"/>
              <a:t>“</a:t>
            </a:r>
            <a:r>
              <a:rPr lang="ko-KR" altLang="en-US" dirty="0"/>
              <a:t>민감성 피부를 가진 </a:t>
            </a:r>
            <a:r>
              <a:rPr lang="en-US" altLang="ko-KR" dirty="0"/>
              <a:t>20~30</a:t>
            </a:r>
            <a:r>
              <a:rPr lang="ko-KR" altLang="en-US" dirty="0"/>
              <a:t>대 스킨케어 관심 </a:t>
            </a:r>
            <a:r>
              <a:rPr lang="ko-KR" altLang="en-US" dirty="0" err="1"/>
              <a:t>소비자”처럼</a:t>
            </a:r>
            <a:r>
              <a:rPr lang="ko-KR" altLang="en-US" dirty="0"/>
              <a:t> 구체적으로 입력하면 </a:t>
            </a:r>
            <a:endParaRPr lang="en-US" altLang="ko-KR" dirty="0"/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dirty="0"/>
              <a:t>피부 고민</a:t>
            </a:r>
            <a:r>
              <a:rPr lang="en-US" altLang="ko-KR" dirty="0"/>
              <a:t>, </a:t>
            </a:r>
            <a:r>
              <a:rPr lang="ko-KR" altLang="en-US" dirty="0"/>
              <a:t>가격 민감도</a:t>
            </a:r>
            <a:r>
              <a:rPr lang="en-US" altLang="ko-KR" dirty="0"/>
              <a:t>, </a:t>
            </a:r>
            <a:r>
              <a:rPr lang="ko-KR" altLang="en-US" dirty="0"/>
              <a:t>친환경 관심도 등 더 구체적인 고객 반응이 생성됨</a:t>
            </a:r>
          </a:p>
          <a:p>
            <a:pPr lvl="1">
              <a:lnSpc>
                <a:spcPct val="110000"/>
              </a:lnSpc>
            </a:pPr>
            <a:r>
              <a:rPr lang="ko-KR" altLang="en-US" b="1" dirty="0"/>
              <a:t>브랜드 톤</a:t>
            </a:r>
          </a:p>
          <a:p>
            <a:pPr lvl="1">
              <a:lnSpc>
                <a:spcPct val="110000"/>
              </a:lnSpc>
            </a:pPr>
            <a:r>
              <a:rPr lang="ko-KR" altLang="en-US" b="1" dirty="0"/>
              <a:t>플랫폼</a:t>
            </a:r>
            <a:endParaRPr lang="en-US" altLang="ko-KR" b="1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본 프로젝트에서는 주로 </a:t>
            </a:r>
            <a:r>
              <a:rPr lang="en" altLang="ko-KR" dirty="0"/>
              <a:t>Instagram </a:t>
            </a:r>
            <a:r>
              <a:rPr lang="ko-KR" altLang="en-US" dirty="0"/>
              <a:t>홍보 창구를 선택해서 예시 생성</a:t>
            </a:r>
          </a:p>
        </p:txBody>
      </p:sp>
    </p:spTree>
    <p:extLst>
      <p:ext uri="{BB962C8B-B14F-4D97-AF65-F5344CB8AC3E}">
        <p14:creationId xmlns:p14="http://schemas.microsoft.com/office/powerpoint/2010/main" val="370790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5661-16EA-C960-9CCC-6F5AAC16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D4981-44AA-6D39-1E7A-BB98BEBF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input</a:t>
            </a:r>
            <a:endParaRPr kumimoji="1" lang="ko-KR" altLang="en-US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8D1EC5-2993-ADEA-FC2A-89C61D989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8300"/>
            <a:ext cx="7327900" cy="2387600"/>
          </a:xfr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7B3B3D8-D019-3C5B-2440-2336AFD28036}"/>
              </a:ext>
            </a:extLst>
          </p:cNvPr>
          <p:cNvSpPr txBox="1">
            <a:spLocks/>
          </p:cNvSpPr>
          <p:nvPr/>
        </p:nvSpPr>
        <p:spPr>
          <a:xfrm>
            <a:off x="838200" y="4159405"/>
            <a:ext cx="10515600" cy="269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ko-KR" altLang="en-US" sz="1800" dirty="0"/>
              <a:t>🔺 파이프라인 시작 부분이자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사용자 입력을 기다리는 부분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0448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669168-962C-F9B2-DC22-66A07F97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제품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1E5B1-D831-7322-E392-E77147C4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제품명</a:t>
            </a:r>
            <a:r>
              <a:rPr lang="en-US" altLang="ko-KR" dirty="0"/>
              <a:t>, </a:t>
            </a:r>
            <a:r>
              <a:rPr lang="ko-KR" altLang="en-US" dirty="0"/>
              <a:t>제품 설명 생성 → </a:t>
            </a:r>
            <a:r>
              <a:rPr lang="en" altLang="ko-KR" dirty="0" err="1"/>
              <a:t>CampaignInput</a:t>
            </a:r>
            <a:r>
              <a:rPr lang="en" altLang="ko-KR" dirty="0"/>
              <a:t> </a:t>
            </a:r>
            <a:r>
              <a:rPr lang="ko-KR" altLang="en-US" dirty="0"/>
              <a:t>객체에 저장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이후 모든 에이전트가 공유하는 핵심 </a:t>
            </a:r>
            <a:r>
              <a:rPr lang="ko-KR" altLang="en-US" dirty="0" err="1"/>
              <a:t>입력값으로</a:t>
            </a:r>
            <a:r>
              <a:rPr lang="ko-KR" altLang="en-US" dirty="0"/>
              <a:t> 사용</a:t>
            </a:r>
          </a:p>
          <a:p>
            <a:pPr>
              <a:lnSpc>
                <a:spcPct val="100000"/>
              </a:lnSpc>
            </a:pPr>
            <a:r>
              <a:rPr kumimoji="1" lang="en-US" altLang="ko-KR" dirty="0"/>
              <a:t>Rule Prompt</a:t>
            </a:r>
          </a:p>
          <a:p>
            <a:pPr lvl="1">
              <a:lnSpc>
                <a:spcPct val="100000"/>
              </a:lnSpc>
            </a:pPr>
            <a:r>
              <a:rPr kumimoji="1" lang="ko-KR" altLang="en-US" dirty="0"/>
              <a:t>제품 </a:t>
            </a:r>
            <a:r>
              <a:rPr kumimoji="1" lang="en-US" altLang="ko-KR" dirty="0"/>
              <a:t>naming, branding</a:t>
            </a:r>
            <a:r>
              <a:rPr kumimoji="1" lang="ko-KR" altLang="en-US" dirty="0"/>
              <a:t> 에이전트라는 역할 부여</a:t>
            </a:r>
            <a:endParaRPr kumimoji="1" lang="en-US" altLang="ko-KR" dirty="0"/>
          </a:p>
          <a:p>
            <a:pPr lvl="1">
              <a:lnSpc>
                <a:spcPct val="100000"/>
              </a:lnSpc>
            </a:pPr>
            <a:r>
              <a:rPr kumimoji="1" lang="ko-KR" altLang="en-US" dirty="0"/>
              <a:t>제품 카테고리만 가지고 단순 출력하지 말고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기업의 경영 가치와 부합하게 만들 것을 지시</a:t>
            </a:r>
          </a:p>
        </p:txBody>
      </p:sp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DB0013-77A6-95F1-C67F-9FE461922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70" y="4153827"/>
            <a:ext cx="3386101" cy="2160000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6D458F-8EF1-653F-B91E-AB29D612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00" y="4153827"/>
            <a:ext cx="612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1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48618-AABA-C5BE-60D1-55571493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922B2-C702-FEA9-64B3-A8162EE8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페르소나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CB1A95-807B-0F87-9361-0F3D14851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사용자가 입력한 제품 정보와 타겟 고객 정보를 기반으로 고객 페르소나를 생성하고 반응을 </a:t>
            </a:r>
            <a:r>
              <a:rPr lang="ko-KR" altLang="en-US" dirty="0" err="1"/>
              <a:t>시뮬레이션한다</a:t>
            </a:r>
            <a:endParaRPr lang="ko-KR" altLang="en-US" dirty="0"/>
          </a:p>
          <a:p>
            <a:r>
              <a:rPr lang="en" altLang="ko-KR" dirty="0"/>
              <a:t>llama 3.1</a:t>
            </a:r>
            <a:r>
              <a:rPr lang="en-US" altLang="ko-KR" dirty="0"/>
              <a:t>.8b</a:t>
            </a:r>
            <a:r>
              <a:rPr lang="ko-KR" altLang="en-US" dirty="0"/>
              <a:t> 사용</a:t>
            </a:r>
          </a:p>
          <a:p>
            <a:r>
              <a:rPr kumimoji="1" lang="en-US" altLang="ko-KR" dirty="0"/>
              <a:t>Rule Prompt</a:t>
            </a:r>
            <a:endParaRPr lang="en" altLang="ko-KR" dirty="0"/>
          </a:p>
          <a:p>
            <a:pPr lvl="1"/>
            <a:r>
              <a:rPr lang="en" altLang="ko-KR" dirty="0"/>
              <a:t>virtual customer simulation agent for marketing research </a:t>
            </a:r>
          </a:p>
        </p:txBody>
      </p:sp>
      <p:pic>
        <p:nvPicPr>
          <p:cNvPr id="9" name="그림 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31F1D2-F649-0C3D-21D3-F297E9754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39885"/>
            <a:ext cx="6063343" cy="1137962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059DD8-1380-4DE0-4848-B2690AEDE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678" y="3429000"/>
            <a:ext cx="3985986" cy="2473388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FDAB3B70-3BD3-0095-EB6C-524D09C787E4}"/>
              </a:ext>
            </a:extLst>
          </p:cNvPr>
          <p:cNvSpPr txBox="1">
            <a:spLocks/>
          </p:cNvSpPr>
          <p:nvPr/>
        </p:nvSpPr>
        <p:spPr>
          <a:xfrm>
            <a:off x="838200" y="4712784"/>
            <a:ext cx="6161314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마케팅 리서치를 위한 가상 고객 시뮬레이션 에이전트 역할 부여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3CCE4B72-44E8-DBB7-8D68-38EA1F5FED3D}"/>
              </a:ext>
            </a:extLst>
          </p:cNvPr>
          <p:cNvSpPr txBox="1">
            <a:spLocks/>
          </p:cNvSpPr>
          <p:nvPr/>
        </p:nvSpPr>
        <p:spPr>
          <a:xfrm>
            <a:off x="7388678" y="6071393"/>
            <a:ext cx="2353129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출력 주의 사항</a:t>
            </a:r>
          </a:p>
        </p:txBody>
      </p:sp>
    </p:spTree>
    <p:extLst>
      <p:ext uri="{BB962C8B-B14F-4D97-AF65-F5344CB8AC3E}">
        <p14:creationId xmlns:p14="http://schemas.microsoft.com/office/powerpoint/2010/main" val="250093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46C34-45B1-A67A-2518-FD3A0A457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페르소나 생성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17D4E2-59B0-7308-D54D-3EBA55B0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463143" cy="1700713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8FC9D61-3BCF-4C91-4362-A5DAD6639F1F}"/>
              </a:ext>
            </a:extLst>
          </p:cNvPr>
          <p:cNvSpPr txBox="1">
            <a:spLocks/>
          </p:cNvSpPr>
          <p:nvPr/>
        </p:nvSpPr>
        <p:spPr>
          <a:xfrm>
            <a:off x="838200" y="3661275"/>
            <a:ext cx="6161314" cy="3076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출력 결과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600" dirty="0"/>
              <a:t>5</a:t>
            </a:r>
            <a:r>
              <a:rPr lang="ko-KR" altLang="en-US" sz="1600" dirty="0"/>
              <a:t>명의 평균 구매 의향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5</a:t>
            </a:r>
            <a:r>
              <a:rPr lang="ko-KR" altLang="en-US" sz="1600" dirty="0"/>
              <a:t>점 만점</a:t>
            </a:r>
            <a:r>
              <a:rPr lang="en-US" altLang="ko-KR" sz="1600" dirty="0"/>
              <a:t>,</a:t>
            </a:r>
          </a:p>
          <a:p>
            <a:pPr marL="0" indent="0"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페르소나 </a:t>
            </a:r>
            <a:r>
              <a:rPr lang="en-US" altLang="ko-KR" sz="1600" dirty="0"/>
              <a:t>1</a:t>
            </a:r>
            <a:r>
              <a:rPr lang="ko-KR" altLang="en-US" sz="1600" dirty="0"/>
              <a:t>의 구매 의향 점수</a:t>
            </a:r>
            <a:r>
              <a:rPr lang="en-US" altLang="ko-KR" sz="1600" dirty="0"/>
              <a:t>]</a:t>
            </a:r>
            <a:r>
              <a:rPr lang="ko-KR" altLang="en-US" sz="1600" dirty="0"/>
              <a:t> 페르소나 한 줄 설명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+</a:t>
            </a:r>
            <a:r>
              <a:rPr lang="ko-KR" altLang="en-US" sz="1600" dirty="0"/>
              <a:t> 가산 요인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-</a:t>
            </a:r>
            <a:r>
              <a:rPr lang="ko-KR" altLang="en-US" sz="1600" dirty="0"/>
              <a:t> 우려 요인</a:t>
            </a:r>
          </a:p>
        </p:txBody>
      </p:sp>
    </p:spTree>
    <p:extLst>
      <p:ext uri="{BB962C8B-B14F-4D97-AF65-F5344CB8AC3E}">
        <p14:creationId xmlns:p14="http://schemas.microsoft.com/office/powerpoint/2010/main" val="3872412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FC9F-3109-0023-875C-23FCC4B7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62503-8D39-3EAD-31E6-272D827F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전략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D1B264-5533-E7E1-8F10-B2034B0FD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가상 고객 페르소나가 생성한 반응을 분석하여 마케팅 전략으로 변환하는 단계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kumimoji="1" lang="en-US" altLang="ko-KR" dirty="0"/>
              <a:t>Rule Prompt</a:t>
            </a:r>
          </a:p>
          <a:p>
            <a:pPr lvl="1">
              <a:lnSpc>
                <a:spcPct val="100000"/>
              </a:lnSpc>
            </a:pPr>
            <a:r>
              <a:rPr kumimoji="1" lang="ko-KR" altLang="en-US" dirty="0"/>
              <a:t>마케팅 전략가 에이전트라는 역할 부여</a:t>
            </a:r>
            <a:endParaRPr kumimoji="1" lang="en-US" altLang="ko-KR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C06A35-AB82-DAC0-A38A-343F7310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1234" cy="926193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5AF784-7B5E-6CD8-A681-35B981A96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4890407" cy="2593763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F4B9FAC-415B-A8E7-8957-657D4D37C701}"/>
              </a:ext>
            </a:extLst>
          </p:cNvPr>
          <p:cNvSpPr txBox="1">
            <a:spLocks/>
          </p:cNvSpPr>
          <p:nvPr/>
        </p:nvSpPr>
        <p:spPr>
          <a:xfrm>
            <a:off x="838200" y="4490130"/>
            <a:ext cx="4671234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</a:t>
            </a:r>
            <a:r>
              <a:rPr kumimoji="1" lang="ko-KR" altLang="en-US" dirty="0"/>
              <a:t>생성된 고객 페르소나의 피드백을 기반으로 하여 마케팅 전략 짤 것을 지시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BDD2EC4-8141-AD7E-6503-8891497D6707}"/>
              </a:ext>
            </a:extLst>
          </p:cNvPr>
          <p:cNvSpPr txBox="1">
            <a:spLocks/>
          </p:cNvSpPr>
          <p:nvPr/>
        </p:nvSpPr>
        <p:spPr>
          <a:xfrm>
            <a:off x="5993946" y="6176963"/>
            <a:ext cx="2547257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출력 형식 및 규칙 지시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59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F7A1-867D-6A6D-2976-8FE2FB0A9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592AD-694F-D1C1-EA18-05800FA9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홍보 카피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4B2047-2080-FA65-C2D6-E01D22EA3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마케팅 전략을 바탕으로 </a:t>
            </a:r>
            <a:r>
              <a:rPr lang="ko-KR" altLang="en-US" dirty="0" err="1"/>
              <a:t>인스타그램에</a:t>
            </a:r>
            <a:r>
              <a:rPr lang="ko-KR" altLang="en-US" dirty="0"/>
              <a:t> 사용할 </a:t>
            </a:r>
            <a:r>
              <a:rPr lang="en" altLang="ko-KR" dirty="0"/>
              <a:t>SNS </a:t>
            </a:r>
            <a:r>
              <a:rPr lang="ko-KR" altLang="en-US" dirty="0"/>
              <a:t>홍보 카피 생성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kumimoji="1" lang="en-US" altLang="ko-KR" dirty="0"/>
              <a:t>Rule Prompt</a:t>
            </a:r>
          </a:p>
          <a:p>
            <a:pPr lvl="1">
              <a:lnSpc>
                <a:spcPct val="100000"/>
              </a:lnSpc>
            </a:pPr>
            <a:r>
              <a:rPr kumimoji="1" lang="en-US" altLang="ko-KR" dirty="0"/>
              <a:t>Copywriter</a:t>
            </a:r>
            <a:r>
              <a:rPr kumimoji="1" lang="ko-KR" altLang="en-US" dirty="0"/>
              <a:t> 역할 부여</a:t>
            </a:r>
            <a:endParaRPr kumimoji="1" lang="en-US" altLang="ko-KR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2A46A66-D78C-F065-77BC-119275936195}"/>
              </a:ext>
            </a:extLst>
          </p:cNvPr>
          <p:cNvSpPr txBox="1">
            <a:spLocks/>
          </p:cNvSpPr>
          <p:nvPr/>
        </p:nvSpPr>
        <p:spPr>
          <a:xfrm>
            <a:off x="838200" y="4490130"/>
            <a:ext cx="4671234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</a:t>
            </a:r>
            <a:r>
              <a:rPr kumimoji="1" lang="ko-KR" altLang="en-US" dirty="0" err="1"/>
              <a:t>레포트같은</a:t>
            </a:r>
            <a:r>
              <a:rPr kumimoji="1" lang="ko-KR" altLang="en-US" dirty="0"/>
              <a:t> 정형된 출력이 아닌</a:t>
            </a:r>
            <a:r>
              <a:rPr kumimoji="1" lang="en-US" altLang="ko-KR" dirty="0"/>
              <a:t>,</a:t>
            </a:r>
            <a:r>
              <a:rPr kumimoji="1" lang="ko-KR" altLang="en-US" dirty="0"/>
              <a:t> 홍보물에 적합한 창의성이 있는 방향성을 제안할 것을 지시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C4F1CCF-2E48-D37B-F709-4A247581C0E8}"/>
              </a:ext>
            </a:extLst>
          </p:cNvPr>
          <p:cNvSpPr txBox="1">
            <a:spLocks/>
          </p:cNvSpPr>
          <p:nvPr/>
        </p:nvSpPr>
        <p:spPr>
          <a:xfrm>
            <a:off x="5993946" y="6176963"/>
            <a:ext cx="3901168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</a:t>
            </a:r>
            <a:r>
              <a:rPr lang="ko-KR" altLang="en-US" dirty="0" err="1"/>
              <a:t>인스타그램에</a:t>
            </a:r>
            <a:r>
              <a:rPr lang="ko-KR" altLang="en-US" dirty="0"/>
              <a:t> 맞게 태그도 출력하도록 함</a:t>
            </a:r>
            <a:endParaRPr kumimoji="1" lang="ko-KR" altLang="en-US" dirty="0"/>
          </a:p>
        </p:txBody>
      </p:sp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22BEB2-C96A-AF67-386B-BF9497F95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48388"/>
            <a:ext cx="4516663" cy="1274273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F31D2-A94A-FDFE-ABCC-B801236B3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46" y="3139270"/>
            <a:ext cx="3574597" cy="256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35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8F30-F962-0F67-480D-AFDB37C3B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0B54B-3C0D-9A79-A732-B855233A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홍보 아이디어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1E488B-634A-A580-9562-CDAE754F9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페르소나 피드백과 마케팅 전략을 바탕으로 캠페인의 큰 아이디어와 메시지 생성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kumimoji="1" lang="en-US" altLang="ko-KR" dirty="0"/>
              <a:t>Rule Prompt</a:t>
            </a:r>
          </a:p>
          <a:p>
            <a:pPr lvl="1">
              <a:lnSpc>
                <a:spcPct val="100000"/>
              </a:lnSpc>
            </a:pPr>
            <a:r>
              <a:rPr kumimoji="1" lang="ko-KR" altLang="en-US" dirty="0"/>
              <a:t>제품 카테고리에 맞는 역할 부여</a:t>
            </a:r>
            <a:endParaRPr kumimoji="1" lang="en-US" altLang="ko-KR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20A5ED6-A377-FB4D-FE21-FE9B1C2F6C92}"/>
              </a:ext>
            </a:extLst>
          </p:cNvPr>
          <p:cNvSpPr txBox="1">
            <a:spLocks/>
          </p:cNvSpPr>
          <p:nvPr/>
        </p:nvSpPr>
        <p:spPr>
          <a:xfrm>
            <a:off x="838200" y="4807662"/>
            <a:ext cx="4671234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</a:t>
            </a:r>
            <a:r>
              <a:rPr kumimoji="1" lang="ko-KR" altLang="en-US" dirty="0"/>
              <a:t>페르소나 피드백과 앞선 전략을 기반으로 홍보 메시지를 생성하도록 함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B6FA1DC0-E930-34D3-3157-A3981220AE53}"/>
              </a:ext>
            </a:extLst>
          </p:cNvPr>
          <p:cNvSpPr txBox="1">
            <a:spLocks/>
          </p:cNvSpPr>
          <p:nvPr/>
        </p:nvSpPr>
        <p:spPr>
          <a:xfrm>
            <a:off x="5993945" y="5367338"/>
            <a:ext cx="5692957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페르소나에 기반한 </a:t>
            </a:r>
            <a:r>
              <a:rPr lang="ko-KR" altLang="en-US" dirty="0" err="1"/>
              <a:t>셀링</a:t>
            </a:r>
            <a:r>
              <a:rPr lang="ko-KR" altLang="en-US" dirty="0"/>
              <a:t> 포인트</a:t>
            </a:r>
            <a:r>
              <a:rPr lang="en-US" altLang="ko-KR" dirty="0"/>
              <a:t>,</a:t>
            </a:r>
            <a:r>
              <a:rPr lang="ko-KR" altLang="en-US" dirty="0"/>
              <a:t> 우려 포인트도 출력</a:t>
            </a:r>
            <a:endParaRPr kumimoji="1" lang="ko-KR" altLang="en-US" dirty="0"/>
          </a:p>
        </p:txBody>
      </p:sp>
      <p:pic>
        <p:nvPicPr>
          <p:cNvPr id="6" name="그림 5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E089C1-6C2A-BA81-A595-6DDEAC148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5717"/>
            <a:ext cx="4671234" cy="1567008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C4C95-97C2-3CEF-AA1D-202A8C141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46" y="3081760"/>
            <a:ext cx="5359854" cy="21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3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9203F-33F7-73BF-7764-DF988307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6E9-022C-8831-8C8B-FDDA3941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시각적 연출 방향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A98687-DED3-63DE-7341-74DEA841E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앞선 출력을 바탕으로 시각적 홍보 이미지 연출 방향 생성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kumimoji="1" lang="en-US" altLang="ko-KR" dirty="0"/>
              <a:t>Rule Prompt</a:t>
            </a:r>
          </a:p>
          <a:p>
            <a:pPr lvl="1">
              <a:lnSpc>
                <a:spcPct val="100000"/>
              </a:lnSpc>
            </a:pPr>
            <a:r>
              <a:rPr lang="en" altLang="ko-KR" dirty="0"/>
              <a:t>advertising creative director</a:t>
            </a:r>
            <a:r>
              <a:rPr lang="ko-KR" altLang="en-US" dirty="0"/>
              <a:t> </a:t>
            </a:r>
            <a:r>
              <a:rPr kumimoji="1" lang="ko-KR" altLang="en-US" dirty="0"/>
              <a:t>역할 부여</a:t>
            </a:r>
            <a:endParaRPr kumimoji="1" lang="en-US" altLang="ko-KR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9C75132-17C5-0781-4812-2812AA9C1083}"/>
              </a:ext>
            </a:extLst>
          </p:cNvPr>
          <p:cNvSpPr txBox="1">
            <a:spLocks/>
          </p:cNvSpPr>
          <p:nvPr/>
        </p:nvSpPr>
        <p:spPr>
          <a:xfrm>
            <a:off x="838200" y="4865536"/>
            <a:ext cx="4671234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</a:t>
            </a:r>
            <a:r>
              <a:rPr kumimoji="1" lang="ko-KR" altLang="en-US" dirty="0"/>
              <a:t>이미지 생성을 위한 프롬프트 준비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43B3D1C0-0621-3010-587E-24282A453D88}"/>
              </a:ext>
            </a:extLst>
          </p:cNvPr>
          <p:cNvSpPr txBox="1">
            <a:spLocks/>
          </p:cNvSpPr>
          <p:nvPr/>
        </p:nvSpPr>
        <p:spPr>
          <a:xfrm>
            <a:off x="838200" y="5576546"/>
            <a:ext cx="5692957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시각적 연출에 집중한 지시 사항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</a:t>
            </a:r>
            <a:r>
              <a:rPr lang="ko-KR" altLang="en-US" dirty="0"/>
              <a:t> 색감</a:t>
            </a:r>
            <a:r>
              <a:rPr lang="en-US" altLang="ko-KR" dirty="0"/>
              <a:t>,</a:t>
            </a:r>
            <a:r>
              <a:rPr lang="ko-KR" altLang="en-US" dirty="0"/>
              <a:t> 배경</a:t>
            </a:r>
            <a:r>
              <a:rPr lang="en-US" altLang="ko-KR" dirty="0"/>
              <a:t>,</a:t>
            </a:r>
            <a:r>
              <a:rPr lang="ko-KR" altLang="en-US" dirty="0"/>
              <a:t> 무드</a:t>
            </a:r>
            <a:r>
              <a:rPr lang="en-US" altLang="ko-KR" dirty="0"/>
              <a:t>,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 👉</a:t>
            </a:r>
            <a:endParaRPr kumimoji="1" lang="ko-KR" altLang="en-US" dirty="0"/>
          </a:p>
        </p:txBody>
      </p:sp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4D5F2-902A-4DA2-D083-CBB8A607A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34484"/>
            <a:ext cx="4451430" cy="1799769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537C8F-A7D6-0314-98F0-6D0AFB8AF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3" y="3034484"/>
            <a:ext cx="4554695" cy="35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62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6533-7F32-DCB0-E307-1DA10634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0CBD7-1AC0-56F0-43D7-2C91CD35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Method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이미지 프롬프트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30A15-1877-17FD-DFE9-EBCCCBBCB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전략</a:t>
            </a:r>
            <a:r>
              <a:rPr lang="en-US" altLang="ko-KR" dirty="0"/>
              <a:t>, </a:t>
            </a:r>
            <a:r>
              <a:rPr lang="en" altLang="ko-KR" dirty="0"/>
              <a:t>SNS </a:t>
            </a:r>
            <a:r>
              <a:rPr lang="ko-KR" altLang="en-US" dirty="0"/>
              <a:t>카피</a:t>
            </a:r>
            <a:r>
              <a:rPr lang="en-US" altLang="ko-KR" dirty="0"/>
              <a:t>, </a:t>
            </a:r>
            <a:r>
              <a:rPr lang="ko-KR" altLang="en-US" dirty="0"/>
              <a:t>캠페인 컨셉</a:t>
            </a:r>
            <a:r>
              <a:rPr lang="en-US" altLang="ko-KR" dirty="0"/>
              <a:t>, </a:t>
            </a:r>
            <a:r>
              <a:rPr lang="ko-KR" altLang="en-US" dirty="0"/>
              <a:t>크리에이티브 방향을 모두 종합하여 이미지 생성 모델에 전달할 프롬프트를 생성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kumimoji="1" lang="en-US" altLang="ko-KR" dirty="0"/>
              <a:t>Rule Prompt</a:t>
            </a:r>
          </a:p>
          <a:p>
            <a:pPr lvl="1">
              <a:lnSpc>
                <a:spcPct val="100000"/>
              </a:lnSpc>
            </a:pPr>
            <a:r>
              <a:rPr lang="en" altLang="ko-KR" dirty="0"/>
              <a:t>AI image prompt engineer</a:t>
            </a:r>
            <a:r>
              <a:rPr lang="ko-KR" altLang="en-US" dirty="0"/>
              <a:t> 역할 부여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이미지 모델이 이해할 수 있도록 장면을 서술형으로 작성하도록 함</a:t>
            </a:r>
            <a:endParaRPr lang="en-US" altLang="ko-KR" dirty="0"/>
          </a:p>
          <a:p>
            <a:pPr lvl="1">
              <a:lnSpc>
                <a:spcPct val="100000"/>
              </a:lnSpc>
            </a:pPr>
            <a:endParaRPr kumimoji="1" lang="en-US" altLang="ko-KR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FC18292E-7922-2C9C-3BA0-8F66711363DB}"/>
              </a:ext>
            </a:extLst>
          </p:cNvPr>
          <p:cNvSpPr txBox="1">
            <a:spLocks/>
          </p:cNvSpPr>
          <p:nvPr/>
        </p:nvSpPr>
        <p:spPr>
          <a:xfrm>
            <a:off x="838200" y="5649912"/>
            <a:ext cx="5257800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🔺전문 사진가에게 전달하는 브리핑처럼 구성하도록 지시</a:t>
            </a:r>
            <a:endParaRPr kumimoji="1" lang="ko-KR" altLang="en-US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327865-8E4D-ABE9-1B1E-FF410EF7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5696"/>
            <a:ext cx="4089400" cy="2120900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021207-5A8D-A37A-A6D6-776C73E3F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915" y="3425696"/>
            <a:ext cx="3361587" cy="2183395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12DF5DAD-BDA3-C227-EA8C-0C0AB17D4666}"/>
              </a:ext>
            </a:extLst>
          </p:cNvPr>
          <p:cNvSpPr txBox="1">
            <a:spLocks/>
          </p:cNvSpPr>
          <p:nvPr/>
        </p:nvSpPr>
        <p:spPr>
          <a:xfrm>
            <a:off x="6257693" y="5649912"/>
            <a:ext cx="5257800" cy="84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🔺 이미지 프롬프트 생성을 위한 구체적인 지시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2165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111F20-CF8E-94D3-196D-D3747DFD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Result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8082E7-E2ED-515D-2986-C7EDD400C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388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D5CF0-85E3-F3CD-6464-AB680684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Result</a:t>
            </a:r>
            <a:endParaRPr kumimoji="1" lang="ko-KR" altLang="en-US" dirty="0"/>
          </a:p>
        </p:txBody>
      </p:sp>
      <p:pic>
        <p:nvPicPr>
          <p:cNvPr id="5" name="내용 개체 틀 4" descr="인간의 얼굴, 사람, 미소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6BE9F4-BF60-F9BE-185D-FFA5D34F6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2900892" cy="4351338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9D3ED5C-A28C-EC06-6D95-5526B1C40EE7}"/>
              </a:ext>
            </a:extLst>
          </p:cNvPr>
          <p:cNvSpPr txBox="1">
            <a:spLocks/>
          </p:cNvSpPr>
          <p:nvPr/>
        </p:nvSpPr>
        <p:spPr>
          <a:xfrm>
            <a:off x="3973484" y="1692621"/>
            <a:ext cx="7380316" cy="4800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제품 카테고리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선크림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텀블러</a:t>
            </a:r>
            <a:r>
              <a:rPr lang="en-US" altLang="ko-KR" dirty="0"/>
              <a:t>): </a:t>
            </a:r>
            <a:r>
              <a:rPr lang="en" altLang="ko-KR" b="1" dirty="0"/>
              <a:t>sunscreen</a:t>
            </a:r>
          </a:p>
          <a:p>
            <a:r>
              <a:rPr lang="ko-KR" altLang="en-US" dirty="0"/>
              <a:t>브랜드 가치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클린뷰티</a:t>
            </a:r>
            <a:r>
              <a:rPr lang="en-US" altLang="ko-KR" dirty="0"/>
              <a:t>, </a:t>
            </a:r>
            <a:r>
              <a:rPr lang="ko-KR" altLang="en-US" dirty="0"/>
              <a:t>지속가능성</a:t>
            </a:r>
            <a:r>
              <a:rPr lang="en-US" altLang="ko-KR" dirty="0"/>
              <a:t>, </a:t>
            </a:r>
            <a:r>
              <a:rPr lang="ko-KR" altLang="en-US" dirty="0"/>
              <a:t>편안함</a:t>
            </a:r>
            <a:r>
              <a:rPr lang="en-US" altLang="ko-KR" dirty="0"/>
              <a:t>): </a:t>
            </a:r>
            <a:r>
              <a:rPr lang="ko-KR" altLang="en-US" b="1" dirty="0"/>
              <a:t>자연과 사람</a:t>
            </a:r>
            <a:r>
              <a:rPr lang="en-US" altLang="ko-KR" b="1" dirty="0"/>
              <a:t>, </a:t>
            </a:r>
            <a:r>
              <a:rPr lang="ko-KR" altLang="en-US" b="1" dirty="0"/>
              <a:t>기업이 조화롭게 공존하는 아름다운 세상을 만들고자 합니다</a:t>
            </a:r>
            <a:r>
              <a:rPr lang="en-US" altLang="ko-KR" b="1" dirty="0"/>
              <a:t>. </a:t>
            </a:r>
            <a:r>
              <a:rPr lang="en-US" altLang="ko-KR" sz="1400" b="1" dirty="0"/>
              <a:t>…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중략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 </a:t>
            </a:r>
            <a:r>
              <a:rPr lang="ko-KR" altLang="en-US" b="1" dirty="0"/>
              <a:t>고객의 만족을 위해 항상 노력하고 있습니다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1"/>
            <a:r>
              <a:rPr lang="ko-KR" altLang="en-US" dirty="0"/>
              <a:t>출처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en" altLang="ko-KR" dirty="0">
                <a:hlinkClick r:id="rId4"/>
              </a:rPr>
              <a:t>https://www.cliocosmetic.com/report_online.html</a:t>
            </a:r>
            <a:r>
              <a:rPr lang="en" altLang="ko-KR" dirty="0"/>
              <a:t>]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타겟 고객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en" altLang="ko-KR" b="1" dirty="0">
                <a:solidFill>
                  <a:srgbClr val="FF0000"/>
                </a:solidFill>
              </a:rPr>
              <a:t>Skincare-conscious women and men in their 20s and 30s with sensitive skin</a:t>
            </a:r>
          </a:p>
          <a:p>
            <a:r>
              <a:rPr lang="ko-KR" altLang="en-US" dirty="0"/>
              <a:t>브랜드 톤</a:t>
            </a:r>
            <a:r>
              <a:rPr lang="en-US" altLang="ko-KR" dirty="0"/>
              <a:t>: </a:t>
            </a:r>
            <a:r>
              <a:rPr lang="en" altLang="ko-KR" b="1" dirty="0"/>
              <a:t>Clean, modern, minimalist, trustworthy</a:t>
            </a:r>
          </a:p>
          <a:p>
            <a:r>
              <a:rPr lang="ko-KR" altLang="en-US" dirty="0"/>
              <a:t>플랫폼 </a:t>
            </a:r>
            <a:r>
              <a:rPr lang="en-US" altLang="ko-KR" dirty="0"/>
              <a:t>(</a:t>
            </a:r>
            <a:r>
              <a:rPr lang="en" altLang="ko-KR" dirty="0"/>
              <a:t>Instagram, TikTok </a:t>
            </a:r>
            <a:r>
              <a:rPr lang="ko-KR" altLang="en-US" dirty="0"/>
              <a:t>등</a:t>
            </a:r>
            <a:r>
              <a:rPr lang="en-US" altLang="ko-KR" dirty="0"/>
              <a:t>): </a:t>
            </a:r>
            <a:r>
              <a:rPr lang="en" altLang="ko-KR" b="1" dirty="0"/>
              <a:t>Instagram</a:t>
            </a:r>
          </a:p>
          <a:p>
            <a:endParaRPr lang="en" altLang="ko-KR" dirty="0"/>
          </a:p>
          <a:p>
            <a:pPr marL="0" indent="0">
              <a:buNone/>
            </a:pPr>
            <a:r>
              <a:rPr lang="ko-KR" altLang="en-US" dirty="0"/>
              <a:t>위의 내용을 입력하였으며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 결과로 옆의 이미지가 출력된다</a:t>
            </a:r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627770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3957-1811-9FF6-065D-68103032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69F2A-2DE1-B3F3-8CDB-8108BA24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Result</a:t>
            </a:r>
            <a:endParaRPr kumimoji="1" lang="ko-KR" altLang="en-US" dirty="0"/>
          </a:p>
        </p:txBody>
      </p:sp>
      <p:pic>
        <p:nvPicPr>
          <p:cNvPr id="8" name="내용 개체 틀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345006-58B4-AC84-B223-042DFD87A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7212724" cy="2203712"/>
          </a:xfrm>
        </p:spPr>
      </p:pic>
      <p:pic>
        <p:nvPicPr>
          <p:cNvPr id="10" name="그림 9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E3AE22-DFE7-FE71-C600-A65DD835D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28458"/>
            <a:ext cx="6182710" cy="241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79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B38D-E1EE-0C86-AD05-A5B07921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68C5B-A18A-AB10-176C-2657E043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Result</a:t>
            </a:r>
            <a:endParaRPr kumimoji="1"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E2F38D6-C729-8EB6-5171-065BB186CD59}"/>
              </a:ext>
            </a:extLst>
          </p:cNvPr>
          <p:cNvSpPr txBox="1">
            <a:spLocks/>
          </p:cNvSpPr>
          <p:nvPr/>
        </p:nvSpPr>
        <p:spPr>
          <a:xfrm>
            <a:off x="3973484" y="1692622"/>
            <a:ext cx="738031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Freesentation 4 Regular" pitchFamily="2" charset="-127"/>
                <a:ea typeface="Freesentation 4 Regular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제품 카테고리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선크림</a:t>
            </a:r>
            <a:r>
              <a:rPr lang="en-US" altLang="ko-KR" dirty="0"/>
              <a:t>, </a:t>
            </a:r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텀블러</a:t>
            </a:r>
            <a:r>
              <a:rPr lang="en-US" altLang="ko-KR" dirty="0"/>
              <a:t>): </a:t>
            </a:r>
            <a:r>
              <a:rPr lang="en" altLang="ko-KR" b="1" dirty="0"/>
              <a:t>sunscreen</a:t>
            </a:r>
          </a:p>
          <a:p>
            <a:r>
              <a:rPr lang="ko-KR" altLang="en-US" dirty="0"/>
              <a:t>브랜드 가치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클린뷰티</a:t>
            </a:r>
            <a:r>
              <a:rPr lang="en-US" altLang="ko-KR" dirty="0"/>
              <a:t>, </a:t>
            </a:r>
            <a:r>
              <a:rPr lang="ko-KR" altLang="en-US" dirty="0"/>
              <a:t>지속가능성</a:t>
            </a:r>
            <a:r>
              <a:rPr lang="en-US" altLang="ko-KR" dirty="0"/>
              <a:t>, </a:t>
            </a:r>
            <a:r>
              <a:rPr lang="ko-KR" altLang="en-US" dirty="0"/>
              <a:t>편안함</a:t>
            </a:r>
            <a:r>
              <a:rPr lang="en-US" altLang="ko-KR" dirty="0"/>
              <a:t>): </a:t>
            </a:r>
            <a:r>
              <a:rPr lang="ko-KR" altLang="en-US" b="1" dirty="0"/>
              <a:t>자연과 사람</a:t>
            </a:r>
            <a:r>
              <a:rPr lang="en-US" altLang="ko-KR" b="1" dirty="0"/>
              <a:t>, </a:t>
            </a:r>
            <a:r>
              <a:rPr lang="ko-KR" altLang="en-US" b="1" dirty="0"/>
              <a:t>기업이 조화롭게 공존하는 아름다운 세상을 만들고자 합니다</a:t>
            </a:r>
            <a:r>
              <a:rPr lang="en-US" altLang="ko-KR" b="1" dirty="0"/>
              <a:t>. </a:t>
            </a:r>
            <a:r>
              <a:rPr lang="en-US" altLang="ko-KR" sz="1400" b="1" dirty="0"/>
              <a:t>…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중략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 </a:t>
            </a:r>
            <a:r>
              <a:rPr lang="ko-KR" altLang="en-US" b="1" dirty="0"/>
              <a:t>고객의 만족을 위해 항상 노력하고 있습니다</a:t>
            </a:r>
            <a:r>
              <a:rPr lang="en-US" altLang="ko-KR" b="1" dirty="0"/>
              <a:t>.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1"/>
            <a:r>
              <a:rPr lang="ko-KR" altLang="en-US" dirty="0"/>
              <a:t>출처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en" altLang="ko-KR" dirty="0">
                <a:hlinkClick r:id="rId3"/>
              </a:rPr>
              <a:t>https://www.cliocosmetic.com/report_online.html</a:t>
            </a:r>
            <a:r>
              <a:rPr lang="en" altLang="ko-KR" dirty="0"/>
              <a:t>]</a:t>
            </a:r>
            <a:endParaRPr lang="en" altLang="ko-KR" b="1" dirty="0"/>
          </a:p>
          <a:p>
            <a:r>
              <a:rPr lang="ko-KR" altLang="en-US" dirty="0">
                <a:solidFill>
                  <a:srgbClr val="FF0000"/>
                </a:solidFill>
              </a:rPr>
              <a:t>타겟 고객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en" altLang="ko-KR" b="1" dirty="0">
                <a:solidFill>
                  <a:srgbClr val="FF0000"/>
                </a:solidFill>
              </a:rPr>
              <a:t>Affluent professionals in their 40s and 50s who seek premium skincare and luxury beauty experiences</a:t>
            </a:r>
          </a:p>
          <a:p>
            <a:r>
              <a:rPr lang="ko-KR" altLang="en-US" dirty="0"/>
              <a:t>브랜드 톤</a:t>
            </a:r>
            <a:r>
              <a:rPr lang="en-US" altLang="ko-KR" dirty="0"/>
              <a:t>: </a:t>
            </a:r>
            <a:r>
              <a:rPr lang="en" altLang="ko-KR" b="1" dirty="0"/>
              <a:t>Clean, modern, minimalist, trustworthy</a:t>
            </a:r>
          </a:p>
          <a:p>
            <a:r>
              <a:rPr lang="ko-KR" altLang="en-US" dirty="0"/>
              <a:t>플랫폼 </a:t>
            </a:r>
            <a:r>
              <a:rPr lang="en-US" altLang="ko-KR" dirty="0"/>
              <a:t>(</a:t>
            </a:r>
            <a:r>
              <a:rPr lang="en" altLang="ko-KR" dirty="0"/>
              <a:t>Instagram, TikTok </a:t>
            </a:r>
            <a:r>
              <a:rPr lang="ko-KR" altLang="en-US" dirty="0"/>
              <a:t>등</a:t>
            </a:r>
            <a:r>
              <a:rPr lang="en-US" altLang="ko-KR" dirty="0"/>
              <a:t>): </a:t>
            </a:r>
            <a:r>
              <a:rPr lang="en" altLang="ko-KR" b="1" dirty="0"/>
              <a:t>Instagram</a:t>
            </a:r>
          </a:p>
          <a:p>
            <a:endParaRPr lang="en" altLang="ko-KR" dirty="0"/>
          </a:p>
          <a:p>
            <a:pPr marL="0" indent="0">
              <a:buNone/>
            </a:pPr>
            <a:r>
              <a:rPr lang="ko-KR" altLang="en-US" dirty="0"/>
              <a:t>앞선 예시와 </a:t>
            </a:r>
            <a:r>
              <a:rPr lang="en-US" altLang="ko-KR" dirty="0"/>
              <a:t>‘</a:t>
            </a:r>
            <a:r>
              <a:rPr lang="ko-KR" altLang="en-US" dirty="0"/>
              <a:t>타겟 고객</a:t>
            </a:r>
            <a:r>
              <a:rPr lang="en-US" altLang="ko-KR" dirty="0"/>
              <a:t>’</a:t>
            </a:r>
            <a:r>
              <a:rPr lang="ko-KR" altLang="en-US" dirty="0"/>
              <a:t>만 다른 입력을 주었을 때 나온 결과이다</a:t>
            </a:r>
            <a:endParaRPr lang="en" altLang="ko-KR" dirty="0"/>
          </a:p>
        </p:txBody>
      </p:sp>
      <p:pic>
        <p:nvPicPr>
          <p:cNvPr id="8" name="내용 개체 틀 7" descr="사람, 야외, 나무, 패션 액세서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E82C45-F128-C474-9AB0-45D887FF1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200" y="1690688"/>
            <a:ext cx="2900892" cy="4351338"/>
          </a:xfrm>
        </p:spPr>
      </p:pic>
    </p:spTree>
    <p:extLst>
      <p:ext uri="{BB962C8B-B14F-4D97-AF65-F5344CB8AC3E}">
        <p14:creationId xmlns:p14="http://schemas.microsoft.com/office/powerpoint/2010/main" val="4137430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97099-FE46-43A7-E01C-14B058B83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Result</a:t>
            </a:r>
            <a:endParaRPr kumimoji="1" lang="ko-KR" altLang="en-US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FC58EB-D2BD-1805-6F34-475BFA962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4316"/>
            <a:ext cx="6718738" cy="2080603"/>
          </a:xfrm>
        </p:spPr>
      </p:pic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0AE61C-6951-FFDC-73F9-35E3E3963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07888"/>
            <a:ext cx="7772400" cy="275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66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4BA03-B240-4B30-ECAC-0DE4D992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7F15094-118A-2986-29E6-10EB320CD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5. Discussion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226868-8C2C-DDF4-E662-BB45B9E12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58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82899-964E-52F2-4B6A-75603458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Discussion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56E6A-15A1-642E-05E6-A6B341244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타겟 고객만</a:t>
            </a:r>
            <a:r>
              <a:rPr lang="ko-KR" altLang="en-US" dirty="0"/>
              <a:t> 변경해도 각 고객 특성에 맞는 페르소나와 마케팅 전략</a:t>
            </a:r>
            <a:r>
              <a:rPr lang="en-US" altLang="ko-KR" dirty="0"/>
              <a:t>, </a:t>
            </a:r>
            <a:r>
              <a:rPr lang="ko-KR" altLang="en-US" dirty="0"/>
              <a:t>홍보 이미지가 생성되는 것을 확인하였다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통해 본 시스템이 단순 템플릿 생성이 아닌</a:t>
            </a:r>
            <a:r>
              <a:rPr lang="en-US" altLang="ko-KR" dirty="0"/>
              <a:t>, </a:t>
            </a:r>
            <a:r>
              <a:rPr lang="ko-KR" altLang="en-US" b="1" dirty="0"/>
              <a:t>입력 정보를 반영한 고객 반응 기반 콘텐츠 생성을 수행함을 </a:t>
            </a:r>
            <a:r>
              <a:rPr lang="ko-KR" altLang="en-US" dirty="0"/>
              <a:t>입증할 수 있다</a:t>
            </a:r>
            <a:r>
              <a:rPr lang="en-US" altLang="ko-KR" dirty="0"/>
              <a:t>.</a:t>
            </a:r>
            <a:endParaRPr kumimoji="1" lang="en-US" altLang="ko-KR" dirty="0"/>
          </a:p>
          <a:p>
            <a:r>
              <a:rPr kumimoji="1" lang="ko-KR" altLang="en-US" b="1" dirty="0" err="1"/>
              <a:t>프롬프팅</a:t>
            </a:r>
            <a:r>
              <a:rPr kumimoji="1" lang="ko-KR" altLang="en-US" dirty="0"/>
              <a:t> 방법</a:t>
            </a:r>
            <a:endParaRPr kumimoji="1" lang="en-US" altLang="ko-KR" dirty="0"/>
          </a:p>
          <a:p>
            <a:pPr lvl="1"/>
            <a:r>
              <a:rPr lang="ko-KR" altLang="en-US" dirty="0"/>
              <a:t>현재는 </a:t>
            </a:r>
            <a:r>
              <a:rPr lang="en" altLang="ko-KR" dirty="0"/>
              <a:t>Role Prompting</a:t>
            </a:r>
            <a:r>
              <a:rPr lang="ko-KR" altLang="en-US" dirty="0"/>
              <a:t>과 </a:t>
            </a:r>
            <a:r>
              <a:rPr lang="en" altLang="ko-KR" dirty="0"/>
              <a:t>Instruction Prompting</a:t>
            </a:r>
            <a:r>
              <a:rPr lang="ko-KR" altLang="en-US" dirty="0"/>
              <a:t>을 사용하였으며</a:t>
            </a:r>
            <a:r>
              <a:rPr lang="en-US" altLang="ko-KR" dirty="0"/>
              <a:t>, </a:t>
            </a:r>
            <a:r>
              <a:rPr lang="ko-KR" altLang="en-US" dirty="0"/>
              <a:t>일부 페르소나가 다소 일반적으로 생성되는 한계가 있었다</a:t>
            </a:r>
            <a:r>
              <a:rPr lang="en-US" altLang="ko-KR" dirty="0"/>
              <a:t>.</a:t>
            </a:r>
          </a:p>
          <a:p>
            <a:pPr lvl="1"/>
            <a:r>
              <a:rPr kumimoji="1" lang="ko-KR" altLang="en-US" dirty="0"/>
              <a:t>향후</a:t>
            </a:r>
            <a:r>
              <a:rPr kumimoji="1" lang="en-US" altLang="ko-KR" dirty="0"/>
              <a:t> </a:t>
            </a:r>
            <a:r>
              <a:rPr kumimoji="1" lang="ko-KR" altLang="en-US" dirty="0"/>
              <a:t>관련 논문을 참고하여</a:t>
            </a:r>
            <a:r>
              <a:rPr lang="en" altLang="ko-KR" dirty="0"/>
              <a:t>Step-by-Step Prompting(</a:t>
            </a:r>
            <a:r>
              <a:rPr lang="en" altLang="ko-KR" dirty="0" err="1"/>
              <a:t>CoT</a:t>
            </a:r>
            <a:r>
              <a:rPr lang="en" altLang="ko-KR" dirty="0"/>
              <a:t>)</a:t>
            </a:r>
            <a:r>
              <a:rPr lang="ko-KR" altLang="en-US" dirty="0"/>
              <a:t>을 적용하여 더욱 구체적이고 일관성 있는 페르소나 및 이미지 프롬프트를 생성할 예정이다</a:t>
            </a:r>
            <a:r>
              <a:rPr lang="en-US" altLang="ko-KR" dirty="0"/>
              <a:t>.</a:t>
            </a:r>
            <a:endParaRPr kumimoji="1" lang="en-US" altLang="ko-KR" dirty="0"/>
          </a:p>
          <a:p>
            <a:r>
              <a:rPr lang="ko-KR" altLang="en-US" dirty="0"/>
              <a:t>현재 생성된 페르소나는 실제 소비자 데이터를 통해 검증되지 않았기에 </a:t>
            </a:r>
            <a:r>
              <a:rPr lang="en-US" altLang="ko-KR" dirty="0"/>
              <a:t>A/B</a:t>
            </a:r>
            <a:r>
              <a:rPr lang="ko-KR" altLang="en-US" dirty="0"/>
              <a:t> 테스트 등 본 시스템을 검증하는 단계가 필요하다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4317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3666-A3DE-394E-CC9B-E1020D1F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B484143-EE8D-C0B3-ED23-E0AE89C6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6. Limitation &amp; Future Works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A2EF84-E83D-8639-C2B1-21073BBA0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422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41C9-B80B-B6ED-0050-E5F1A214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83DE3-5E42-CD07-F4BF-7F091BC2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6. Limitation &amp; Future Works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4DF6B4-9C7F-C824-21C1-96F69266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현재 개발 환경은 </a:t>
            </a:r>
            <a:r>
              <a:rPr kumimoji="1" lang="en" altLang="ko-KR" dirty="0"/>
              <a:t>Apple M4</a:t>
            </a:r>
            <a:r>
              <a:rPr kumimoji="1" lang="ko-KR" altLang="en-US" dirty="0"/>
              <a:t>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MLX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불러와 사용하였으며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이미지 생성 파트에서는 숙명여대에서 지원하는 </a:t>
            </a:r>
            <a:r>
              <a:rPr kumimoji="1" lang="en-US" altLang="ko-KR" dirty="0"/>
              <a:t>API</a:t>
            </a:r>
            <a:r>
              <a:rPr kumimoji="1" lang="ko-KR" altLang="en-US" dirty="0"/>
              <a:t>로 연결하여 </a:t>
            </a:r>
            <a:r>
              <a:rPr kumimoji="1" lang="en-US" altLang="ko-KR" dirty="0" err="1"/>
              <a:t>gemini</a:t>
            </a:r>
            <a:r>
              <a:rPr kumimoji="1" lang="en-US" altLang="ko-KR" dirty="0"/>
              <a:t> flash</a:t>
            </a:r>
            <a:r>
              <a:rPr kumimoji="1" lang="ko-KR" altLang="en-US" dirty="0"/>
              <a:t> </a:t>
            </a:r>
            <a:r>
              <a:rPr kumimoji="1" lang="en-US" altLang="ko-KR" dirty="0"/>
              <a:t>2.5</a:t>
            </a:r>
            <a:r>
              <a:rPr kumimoji="1" lang="ko-KR" altLang="en-US" dirty="0"/>
              <a:t> 버전으로 비교적 빠른 속도의 가벼운 모델을 사용하였다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페르소나 생성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전략 생성 등 텍스트 생성은 </a:t>
            </a:r>
            <a:r>
              <a:rPr kumimoji="1" lang="en-US" altLang="ko-KR" dirty="0"/>
              <a:t>MLX</a:t>
            </a:r>
            <a:r>
              <a:rPr kumimoji="1" lang="ko-KR" altLang="en-US" dirty="0"/>
              <a:t>로 처리되어야 했기에 이 역시 모델 크기가 비교적 작은 </a:t>
            </a:r>
            <a:r>
              <a:rPr kumimoji="1" lang="en-US" altLang="ko-KR" dirty="0"/>
              <a:t>llama3.1:8b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  <a:p>
            <a:pPr>
              <a:buFont typeface="Symbol" pitchFamily="2" charset="2"/>
              <a:buChar char="Þ"/>
            </a:pPr>
            <a:r>
              <a:rPr kumimoji="1" lang="ko-KR" altLang="en-US" dirty="0"/>
              <a:t>자원의 부족으로 인하여 더 무겁고 파라미터가 큰 모델을 사용해보지 못한 점이 아쉽다</a:t>
            </a:r>
            <a:r>
              <a:rPr kumimoji="1" lang="en-US" altLang="ko-KR" dirty="0"/>
              <a:t>.</a:t>
            </a:r>
          </a:p>
          <a:p>
            <a:pPr>
              <a:buFont typeface="Symbol" pitchFamily="2" charset="2"/>
              <a:buChar char="Þ"/>
            </a:pPr>
            <a:r>
              <a:rPr kumimoji="1" lang="ko-KR" altLang="en-US" dirty="0"/>
              <a:t>그럼에도 불구하고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아직 구체적으로 작성하지 않은 프롬프트와 가벼운 모델을 사용함에도 불구하고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결과가 의도한대로 출력됨을 확인하였다</a:t>
            </a:r>
            <a:r>
              <a:rPr kumimoji="1" lang="en-US" altLang="ko-KR" dirty="0"/>
              <a:t>.</a:t>
            </a:r>
          </a:p>
          <a:p>
            <a:pPr>
              <a:buFont typeface="Symbol" pitchFamily="2" charset="2"/>
              <a:buChar char="Þ"/>
            </a:pPr>
            <a:r>
              <a:rPr kumimoji="1" lang="ko-KR" altLang="en-US" dirty="0"/>
              <a:t>이는 추후 더 갖춰진 개발 환경과 </a:t>
            </a:r>
            <a:r>
              <a:rPr kumimoji="1" lang="ko-KR" altLang="en-US" dirty="0" err="1"/>
              <a:t>프롬프팅</a:t>
            </a:r>
            <a:r>
              <a:rPr kumimoji="1" lang="ko-KR" altLang="en-US" dirty="0"/>
              <a:t> 개선을 통해 보강해 나갈 예정이다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090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1107</Words>
  <Application>Microsoft Macintosh PowerPoint</Application>
  <PresentationFormat>와이드스크린</PresentationFormat>
  <Paragraphs>131</Paragraphs>
  <Slides>25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맑은 고딕</vt:lpstr>
      <vt:lpstr>Freesentation 4 Regular</vt:lpstr>
      <vt:lpstr>Freesentation 7 Bold</vt:lpstr>
      <vt:lpstr>Freesentation 8 ExtraBold</vt:lpstr>
      <vt:lpstr>Arial</vt:lpstr>
      <vt:lpstr>Symbol</vt:lpstr>
      <vt:lpstr>Office 테마</vt:lpstr>
      <vt:lpstr>Marketing Agent: Virtual Customer Feedback</vt:lpstr>
      <vt:lpstr>1. Introduction</vt:lpstr>
      <vt:lpstr>1. Introduction</vt:lpstr>
      <vt:lpstr>2. Idea</vt:lpstr>
      <vt:lpstr>2. Idea</vt:lpstr>
      <vt:lpstr>3. Method</vt:lpstr>
      <vt:lpstr>3. Method - input</vt:lpstr>
      <vt:lpstr>3. Method - input</vt:lpstr>
      <vt:lpstr>3. Method – 제품 생성</vt:lpstr>
      <vt:lpstr>3. Method – 페르소나 생성</vt:lpstr>
      <vt:lpstr>3. Method – 페르소나 생성</vt:lpstr>
      <vt:lpstr>3. Method – 전략 분석</vt:lpstr>
      <vt:lpstr>3. Method – 홍보 카피 생성</vt:lpstr>
      <vt:lpstr>3. Method – 홍보 아이디어 생성</vt:lpstr>
      <vt:lpstr>3. Method – 시각적 연출 방향 설정</vt:lpstr>
      <vt:lpstr>3. Method – 이미지 프롬프트 생성</vt:lpstr>
      <vt:lpstr>4. Result</vt:lpstr>
      <vt:lpstr>4. Result</vt:lpstr>
      <vt:lpstr>4. Result</vt:lpstr>
      <vt:lpstr>4. Result</vt:lpstr>
      <vt:lpstr>4. Result</vt:lpstr>
      <vt:lpstr>5. Discussion</vt:lpstr>
      <vt:lpstr>5. Discussion</vt:lpstr>
      <vt:lpstr>6. Limitation &amp; Future Works</vt:lpstr>
      <vt:lpstr>6. Limitation &amp; 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한은정</dc:creator>
  <cp:lastModifiedBy>한은정</cp:lastModifiedBy>
  <cp:revision>108</cp:revision>
  <dcterms:created xsi:type="dcterms:W3CDTF">2026-06-07T08:50:14Z</dcterms:created>
  <dcterms:modified xsi:type="dcterms:W3CDTF">2026-06-08T14:04:08Z</dcterms:modified>
</cp:coreProperties>
</file>